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eced32d1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eced32d1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eced32d1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eced32d1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eced32d1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eced32d1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eced32d1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eced32d1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eced32d1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ceced32d1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eced32d1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ceced32d1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eced32d11_0_2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eced32d11_0_2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eced32d11_0_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ceced32d11_0_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eced32d11_0_2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eced32d11_0_2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eced32d1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eced32d1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eced32d1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eced32d1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Retail System Implementation Plan</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Yamil Diaz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scenario </a:t>
            </a:r>
            <a:endParaRPr/>
          </a:p>
        </p:txBody>
      </p:sp>
      <p:sp>
        <p:nvSpPr>
          <p:cNvPr id="135" name="Google Shape;135;p14"/>
          <p:cNvSpPr txBox="1"/>
          <p:nvPr>
            <p:ph idx="1" type="body"/>
          </p:nvPr>
        </p:nvSpPr>
        <p:spPr>
          <a:xfrm>
            <a:off x="904050" y="1561450"/>
            <a:ext cx="7030500" cy="29703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120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I propose a new Retail Information System for a store chain that is still using outdated software</a:t>
            </a:r>
            <a:endParaRPr sz="1400">
              <a:solidFill>
                <a:srgbClr val="000000"/>
              </a:solidFill>
              <a:latin typeface="Nunito"/>
              <a:ea typeface="Nunito"/>
              <a:cs typeface="Nunito"/>
              <a:sym typeface="Nunito"/>
            </a:endParaRPr>
          </a:p>
          <a:p>
            <a:pPr indent="-317500" lvl="0" marL="4572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The new system would support daily retail operations such as:</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order processing</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inventory updates</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Reporting</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customer service. </a:t>
            </a:r>
            <a:endParaRPr sz="1400">
              <a:solidFill>
                <a:srgbClr val="000000"/>
              </a:solidFill>
              <a:latin typeface="Nunito"/>
              <a:ea typeface="Nunito"/>
              <a:cs typeface="Nunito"/>
              <a:sym typeface="Nunito"/>
            </a:endParaRPr>
          </a:p>
          <a:p>
            <a:pPr indent="-317500" lvl="0" marL="4572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The goal is to replace slow and disconnected processes with one system that improves accuracy, speed, and decision-making. </a:t>
            </a:r>
            <a:endParaRPr sz="1400">
              <a:solidFill>
                <a:srgbClr val="000000"/>
              </a:solidFill>
              <a:latin typeface="Nunito"/>
              <a:ea typeface="Nunito"/>
              <a:cs typeface="Nunito"/>
              <a:sym typeface="Nunito"/>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Chosen methodology</a:t>
            </a:r>
            <a:endParaRPr/>
          </a:p>
        </p:txBody>
      </p:sp>
      <p:sp>
        <p:nvSpPr>
          <p:cNvPr id="141" name="Google Shape;141;p15"/>
          <p:cNvSpPr txBox="1"/>
          <p:nvPr>
            <p:ph idx="1" type="body"/>
          </p:nvPr>
        </p:nvSpPr>
        <p:spPr>
          <a:xfrm>
            <a:off x="819150" y="1534800"/>
            <a:ext cx="7505700" cy="29040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120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Agile methodology with incremental releases </a:t>
            </a:r>
            <a:endParaRPr sz="1400">
              <a:solidFill>
                <a:srgbClr val="000000"/>
              </a:solidFill>
              <a:latin typeface="Nunito"/>
              <a:ea typeface="Nunito"/>
              <a:cs typeface="Nunito"/>
              <a:sym typeface="Nunito"/>
            </a:endParaRPr>
          </a:p>
          <a:p>
            <a:pPr indent="-317500" lvl="0" marL="4572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I think Agile fits retail well because retail environments change quickly</a:t>
            </a:r>
            <a:endParaRPr sz="1400">
              <a:solidFill>
                <a:srgbClr val="000000"/>
              </a:solidFill>
              <a:latin typeface="Nunito"/>
              <a:ea typeface="Nunito"/>
              <a:cs typeface="Nunito"/>
              <a:sym typeface="Nunito"/>
            </a:endParaRPr>
          </a:p>
          <a:p>
            <a:pPr indent="-317500" lvl="0" marL="4572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Agile is a good choice here because the team can release the system in smaller parts, such as: </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inventory management</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sales</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Checkout</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Reporting</a:t>
            </a:r>
            <a:endParaRPr sz="1400">
              <a:solidFill>
                <a:srgbClr val="000000"/>
              </a:solidFill>
              <a:latin typeface="Nunito"/>
              <a:ea typeface="Nunito"/>
              <a:cs typeface="Nunito"/>
              <a:sym typeface="Nunito"/>
            </a:endParaRPr>
          </a:p>
          <a:p>
            <a:pPr indent="-317500" lvl="1" marL="9144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customer account features</a:t>
            </a:r>
            <a:endParaRPr sz="1400">
              <a:solidFill>
                <a:srgbClr val="000000"/>
              </a:solidFill>
              <a:latin typeface="Nunito"/>
              <a:ea typeface="Nunito"/>
              <a:cs typeface="Nunito"/>
              <a:sym typeface="Nunito"/>
            </a:endParaRPr>
          </a:p>
          <a:p>
            <a:pPr indent="-317500" lvl="0" marL="457200" rtl="0" algn="l">
              <a:lnSpc>
                <a:spcPct val="100000"/>
              </a:lnSpc>
              <a:spcBef>
                <a:spcPts val="0"/>
              </a:spcBef>
              <a:spcAft>
                <a:spcPts val="0"/>
              </a:spcAft>
              <a:buClr>
                <a:srgbClr val="000000"/>
              </a:buClr>
              <a:buSzPts val="1400"/>
              <a:buFont typeface="Nunito"/>
              <a:buChar char="●"/>
            </a:pPr>
            <a:r>
              <a:rPr lang="en" sz="1400">
                <a:solidFill>
                  <a:srgbClr val="000000"/>
                </a:solidFill>
                <a:latin typeface="Nunito"/>
                <a:ea typeface="Nunito"/>
                <a:cs typeface="Nunito"/>
                <a:sym typeface="Nunito"/>
              </a:rPr>
              <a:t>This lowers risk compared to trying to do everything at once. At the same time, I would still keep strong documentation, test plans, and project controls</a:t>
            </a:r>
            <a:endParaRPr sz="1400">
              <a:solidFill>
                <a:srgbClr val="000000"/>
              </a:solidFill>
              <a:latin typeface="Nunito"/>
              <a:ea typeface="Nunito"/>
              <a:cs typeface="Nunito"/>
              <a:sym typeface="Nunito"/>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Planning objectives and strategies</a:t>
            </a:r>
            <a:endParaRPr/>
          </a:p>
        </p:txBody>
      </p:sp>
      <p:sp>
        <p:nvSpPr>
          <p:cNvPr id="147" name="Google Shape;147;p16"/>
          <p:cNvSpPr txBox="1"/>
          <p:nvPr>
            <p:ph idx="1" type="body"/>
          </p:nvPr>
        </p:nvSpPr>
        <p:spPr>
          <a:xfrm>
            <a:off x="628650" y="1579225"/>
            <a:ext cx="7876200" cy="29034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1200"/>
              </a:spcBef>
              <a:spcAft>
                <a:spcPts val="0"/>
              </a:spcAft>
              <a:buNone/>
            </a:pPr>
            <a:r>
              <a:rPr lang="en" sz="1200">
                <a:solidFill>
                  <a:srgbClr val="000000"/>
                </a:solidFill>
                <a:latin typeface="Nunito"/>
                <a:ea typeface="Nunito"/>
                <a:cs typeface="Nunito"/>
                <a:sym typeface="Nunito"/>
              </a:rPr>
              <a:t>The planning objectives include:</a:t>
            </a:r>
            <a:endParaRPr sz="1200">
              <a:solidFill>
                <a:srgbClr val="000000"/>
              </a:solidFill>
              <a:latin typeface="Nunito"/>
              <a:ea typeface="Nunito"/>
              <a:cs typeface="Nunito"/>
              <a:sym typeface="Nunito"/>
            </a:endParaRPr>
          </a:p>
          <a:p>
            <a:pPr indent="-304800" lvl="0" marL="457200" rtl="0" algn="l">
              <a:lnSpc>
                <a:spcPct val="100000"/>
              </a:lnSpc>
              <a:spcBef>
                <a:spcPts val="120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replacing manual and outdated retail processes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Improving inventory accuracy and order processing speed</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reducing duplicate data entry and reporting delays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supporting future growth and scalability</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training users so the system is accepted and used correctly</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completing implementation with minimal disruption to store operations. </a:t>
            </a:r>
            <a:endParaRPr sz="1200">
              <a:solidFill>
                <a:srgbClr val="000000"/>
              </a:solidFill>
              <a:latin typeface="Nunito"/>
              <a:ea typeface="Nunito"/>
              <a:cs typeface="Nunito"/>
              <a:sym typeface="Nunito"/>
            </a:endParaRPr>
          </a:p>
          <a:p>
            <a:pPr indent="0" lvl="0" marL="0" rtl="0" algn="l">
              <a:lnSpc>
                <a:spcPct val="100000"/>
              </a:lnSpc>
              <a:spcBef>
                <a:spcPts val="1200"/>
              </a:spcBef>
              <a:spcAft>
                <a:spcPts val="0"/>
              </a:spcAft>
              <a:buNone/>
            </a:pPr>
            <a:r>
              <a:rPr lang="en" sz="1200">
                <a:solidFill>
                  <a:srgbClr val="000000"/>
                </a:solidFill>
                <a:latin typeface="Nunito"/>
                <a:ea typeface="Nunito"/>
                <a:cs typeface="Nunito"/>
                <a:sym typeface="Nunito"/>
              </a:rPr>
              <a:t>The strategies to meet these objectives include:</a:t>
            </a:r>
            <a:endParaRPr sz="1200">
              <a:solidFill>
                <a:srgbClr val="000000"/>
              </a:solidFill>
              <a:latin typeface="Nunito"/>
              <a:ea typeface="Nunito"/>
              <a:cs typeface="Nunito"/>
              <a:sym typeface="Nunito"/>
            </a:endParaRPr>
          </a:p>
          <a:p>
            <a:pPr indent="-304800" lvl="0" marL="457200" rtl="0" algn="l">
              <a:lnSpc>
                <a:spcPct val="100000"/>
              </a:lnSpc>
              <a:spcBef>
                <a:spcPts val="120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creating a work breakdown structure (WBS) with clearly defined tasks and durations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using a Gantt chart to track planned and actual progress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monitor task dependencies and the critical path so delays are identified early</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Hold regular status meetings and use written progress reports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Include risk ownership, probability, impact, and contingency planning</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Include training, testing, and data conversion early instead of leaving them for the end.</a:t>
            </a:r>
            <a:endParaRPr>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a:t>
            </a:r>
            <a:r>
              <a:rPr lang="en"/>
              <a:t>nstallation strategy</a:t>
            </a:r>
            <a:endParaRPr/>
          </a:p>
        </p:txBody>
      </p:sp>
      <p:sp>
        <p:nvSpPr>
          <p:cNvPr id="153" name="Google Shape;153;p17"/>
          <p:cNvSpPr txBox="1"/>
          <p:nvPr>
            <p:ph idx="1" type="body"/>
          </p:nvPr>
        </p:nvSpPr>
        <p:spPr>
          <a:xfrm>
            <a:off x="705200" y="1437075"/>
            <a:ext cx="8004000" cy="3482400"/>
          </a:xfrm>
          <a:prstGeom prst="rect">
            <a:avLst/>
          </a:prstGeom>
        </p:spPr>
        <p:txBody>
          <a:bodyPr anchorCtr="0" anchor="t" bIns="91425" lIns="91425" spcFirstLastPara="1" rIns="91425" wrap="square" tIns="91425">
            <a:normAutofit lnSpcReduction="10000"/>
          </a:bodyPr>
          <a:lstStyle/>
          <a:p>
            <a:pPr indent="-304800" lvl="0" marL="457200" rtl="0" algn="l">
              <a:lnSpc>
                <a:spcPct val="100000"/>
              </a:lnSpc>
              <a:spcBef>
                <a:spcPts val="120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phased installation approach so that it is a step-by-step rollout that is more gradual and manageable</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A phased approach is best for retail because a retail system usually has separable modules, like inventory, sales processing, customer orders, and reporting. </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This is safer than direct cutover and cheaper than full parallel operation. </a:t>
            </a:r>
            <a:endParaRPr sz="1200">
              <a:solidFill>
                <a:srgbClr val="000000"/>
              </a:solidFill>
              <a:latin typeface="Nunito"/>
              <a:ea typeface="Nunito"/>
              <a:cs typeface="Nunito"/>
              <a:sym typeface="Nunito"/>
            </a:endParaRPr>
          </a:p>
          <a:p>
            <a:pPr indent="0" lvl="0" marL="0" rtl="0" algn="l">
              <a:lnSpc>
                <a:spcPct val="100000"/>
              </a:lnSpc>
              <a:spcBef>
                <a:spcPts val="1800"/>
              </a:spcBef>
              <a:spcAft>
                <a:spcPts val="0"/>
              </a:spcAft>
              <a:buNone/>
            </a:pPr>
            <a:r>
              <a:rPr b="1" lang="en" sz="1200">
                <a:solidFill>
                  <a:srgbClr val="000000"/>
                </a:solidFill>
                <a:latin typeface="Nunito"/>
                <a:ea typeface="Nunito"/>
                <a:cs typeface="Nunito"/>
                <a:sym typeface="Nunito"/>
              </a:rPr>
              <a:t>Installation Schedule </a:t>
            </a:r>
            <a:endParaRPr b="1" sz="1200">
              <a:solidFill>
                <a:srgbClr val="000000"/>
              </a:solidFill>
              <a:latin typeface="Nunito"/>
              <a:ea typeface="Nunito"/>
              <a:cs typeface="Nunito"/>
              <a:sym typeface="Nunito"/>
            </a:endParaRPr>
          </a:p>
          <a:p>
            <a:pPr indent="-304800" lvl="0" marL="457200" rtl="0" algn="l">
              <a:lnSpc>
                <a:spcPct val="100000"/>
              </a:lnSpc>
              <a:spcBef>
                <a:spcPts val="120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Set up a production environment.</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Confirm system configuration and network readiness.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Complete final backup of old data/system.</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Roll out the inventory module first.</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Monitor performance and user issues.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Roll out sales/order processing module.</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Roll out reporting/dashboard module.</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Compare outputs and verify transactions.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Provide floor support and help desk assistance.</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Retire legacy functions after successful validation.</a:t>
            </a:r>
            <a:endParaRPr sz="1200">
              <a:solidFill>
                <a:srgbClr val="000000"/>
              </a:solidFill>
              <a:latin typeface="Nunito"/>
              <a:ea typeface="Nunito"/>
              <a:cs typeface="Nunito"/>
              <a:sym typeface="Nunito"/>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migration plan and ETL flow</a:t>
            </a:r>
            <a:endParaRPr/>
          </a:p>
        </p:txBody>
      </p:sp>
      <p:sp>
        <p:nvSpPr>
          <p:cNvPr id="159" name="Google Shape;159;p18"/>
          <p:cNvSpPr txBox="1"/>
          <p:nvPr>
            <p:ph idx="1" type="body"/>
          </p:nvPr>
        </p:nvSpPr>
        <p:spPr>
          <a:xfrm>
            <a:off x="819150" y="1579225"/>
            <a:ext cx="7505700" cy="31536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b="1" lang="en" sz="1200">
                <a:solidFill>
                  <a:srgbClr val="000000"/>
                </a:solidFill>
                <a:latin typeface="Nunito"/>
                <a:ea typeface="Nunito"/>
                <a:cs typeface="Nunito"/>
                <a:sym typeface="Nunito"/>
              </a:rPr>
              <a:t>Extract</a:t>
            </a:r>
            <a:endParaRPr b="1"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pull product records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inventory quantities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customer records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sales history</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supplier data</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pricing tables</a:t>
            </a:r>
            <a:endParaRPr sz="1200">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rPr b="1" lang="en" sz="1200">
                <a:solidFill>
                  <a:srgbClr val="000000"/>
                </a:solidFill>
                <a:latin typeface="Nunito"/>
                <a:ea typeface="Nunito"/>
                <a:cs typeface="Nunito"/>
                <a:sym typeface="Nunito"/>
              </a:rPr>
              <a:t>Transform</a:t>
            </a:r>
            <a:endParaRPr b="1"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remove duplicates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correct errors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standardize product names and codes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clean customer contact records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map old fields to new system fields</a:t>
            </a:r>
            <a:endParaRPr sz="1200">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rPr b="1" lang="en" sz="1200">
                <a:solidFill>
                  <a:srgbClr val="000000"/>
                </a:solidFill>
                <a:latin typeface="Nunito"/>
                <a:ea typeface="Nunito"/>
                <a:cs typeface="Nunito"/>
                <a:sym typeface="Nunito"/>
              </a:rPr>
              <a:t>Load</a:t>
            </a:r>
            <a:endParaRPr b="1"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load cleansed data into the new retail database</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validate totals, counts, and sample records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compare migrated output with expected results</a:t>
            </a:r>
            <a:endParaRPr sz="1200">
              <a:solidFill>
                <a:srgbClr val="000000"/>
              </a:solidFill>
              <a:latin typeface="Nunito"/>
              <a:ea typeface="Nunito"/>
              <a:cs typeface="Nunito"/>
              <a:sym typeface="Nunito"/>
            </a:endParaRPr>
          </a:p>
          <a:p>
            <a:pPr indent="0" lvl="0" marL="457200" rtl="0" algn="l">
              <a:lnSpc>
                <a:spcPct val="100000"/>
              </a:lnSpc>
              <a:spcBef>
                <a:spcPts val="0"/>
              </a:spcBef>
              <a:spcAft>
                <a:spcPts val="0"/>
              </a:spcAft>
              <a:buNone/>
            </a:pPr>
            <a:r>
              <a:t/>
            </a:r>
            <a:endParaRPr sz="1200">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rPr b="1" lang="en" sz="1200">
                <a:solidFill>
                  <a:srgbClr val="000000"/>
                </a:solidFill>
                <a:latin typeface="Nunito"/>
                <a:ea typeface="Nunito"/>
                <a:cs typeface="Nunito"/>
                <a:sym typeface="Nunito"/>
              </a:rPr>
              <a:t>Migration controls</a:t>
            </a:r>
            <a:endParaRPr b="1"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perform data profiling and cleansing first</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use field mapping checks</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run a pilot migration before full rollout</a:t>
            </a:r>
            <a:endParaRPr sz="1200">
              <a:solidFill>
                <a:srgbClr val="000000"/>
              </a:solidFill>
              <a:latin typeface="Nunito"/>
              <a:ea typeface="Nunito"/>
              <a:cs typeface="Nunito"/>
              <a:sym typeface="Nunito"/>
            </a:endParaRPr>
          </a:p>
          <a:p>
            <a:pPr indent="-287655" lvl="0" marL="457200" rtl="0" algn="l">
              <a:lnSpc>
                <a:spcPct val="100000"/>
              </a:lnSpc>
              <a:spcBef>
                <a:spcPts val="0"/>
              </a:spcBef>
              <a:spcAft>
                <a:spcPts val="0"/>
              </a:spcAft>
              <a:buClr>
                <a:srgbClr val="000000"/>
              </a:buClr>
              <a:buSzPct val="100000"/>
              <a:buFont typeface="Nunito"/>
              <a:buChar char="●"/>
            </a:pPr>
            <a:r>
              <a:rPr lang="en" sz="1200">
                <a:solidFill>
                  <a:srgbClr val="000000"/>
                </a:solidFill>
                <a:latin typeface="Nunito"/>
                <a:ea typeface="Nunito"/>
                <a:cs typeface="Nunito"/>
                <a:sym typeface="Nunito"/>
              </a:rPr>
              <a:t>test for completeness and accuracy after loading</a:t>
            </a:r>
            <a:endParaRPr sz="1200">
              <a:solidFill>
                <a:srgbClr val="000000"/>
              </a:solidFill>
              <a:latin typeface="Nunito"/>
              <a:ea typeface="Nunito"/>
              <a:cs typeface="Nunito"/>
              <a:sym typeface="Nunito"/>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t>
            </a:r>
            <a:r>
              <a:rPr lang="en"/>
              <a:t>est cases </a:t>
            </a:r>
            <a:endParaRPr/>
          </a:p>
        </p:txBody>
      </p:sp>
      <p:sp>
        <p:nvSpPr>
          <p:cNvPr id="165" name="Google Shape;165;p19"/>
          <p:cNvSpPr txBox="1"/>
          <p:nvPr>
            <p:ph idx="1" type="body"/>
          </p:nvPr>
        </p:nvSpPr>
        <p:spPr>
          <a:xfrm>
            <a:off x="819150" y="1552575"/>
            <a:ext cx="3990300" cy="28863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 sz="1200">
                <a:solidFill>
                  <a:srgbClr val="000000"/>
                </a:solidFill>
                <a:latin typeface="Nunito"/>
                <a:ea typeface="Nunito"/>
                <a:cs typeface="Nunito"/>
                <a:sym typeface="Nunito"/>
              </a:rPr>
              <a:t>Test Case 1: Login validation</a:t>
            </a:r>
            <a:endParaRPr b="1" sz="1200">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rPr b="1" lang="en" sz="1200">
                <a:solidFill>
                  <a:srgbClr val="000000"/>
                </a:solidFill>
                <a:latin typeface="Nunito"/>
                <a:ea typeface="Nunito"/>
                <a:cs typeface="Nunito"/>
                <a:sym typeface="Nunito"/>
              </a:rPr>
              <a:t>Test case ID:</a:t>
            </a:r>
            <a:r>
              <a:rPr lang="en" sz="1200">
                <a:solidFill>
                  <a:srgbClr val="000000"/>
                </a:solidFill>
                <a:latin typeface="Nunito"/>
                <a:ea typeface="Nunito"/>
                <a:cs typeface="Nunito"/>
                <a:sym typeface="Nunito"/>
              </a:rPr>
              <a:t> TC-01</a:t>
            </a:r>
            <a:br>
              <a:rPr lang="en" sz="1200">
                <a:solidFill>
                  <a:srgbClr val="000000"/>
                </a:solidFill>
                <a:latin typeface="Nunito"/>
                <a:ea typeface="Nunito"/>
                <a:cs typeface="Nunito"/>
                <a:sym typeface="Nunito"/>
              </a:rPr>
            </a:br>
            <a:r>
              <a:rPr b="1" lang="en" sz="1200">
                <a:solidFill>
                  <a:srgbClr val="000000"/>
                </a:solidFill>
                <a:latin typeface="Nunito"/>
                <a:ea typeface="Nunito"/>
                <a:cs typeface="Nunito"/>
                <a:sym typeface="Nunito"/>
              </a:rPr>
              <a:t>Objective:</a:t>
            </a:r>
            <a:r>
              <a:rPr lang="en" sz="1200">
                <a:solidFill>
                  <a:srgbClr val="000000"/>
                </a:solidFill>
                <a:latin typeface="Nunito"/>
                <a:ea typeface="Nunito"/>
                <a:cs typeface="Nunito"/>
                <a:sym typeface="Nunito"/>
              </a:rPr>
              <a:t> ensure valid users can log in and invalid users are blocked.</a:t>
            </a:r>
            <a:br>
              <a:rPr lang="en" sz="1200">
                <a:solidFill>
                  <a:srgbClr val="000000"/>
                </a:solidFill>
                <a:latin typeface="Nunito"/>
                <a:ea typeface="Nunito"/>
                <a:cs typeface="Nunito"/>
                <a:sym typeface="Nunito"/>
              </a:rPr>
            </a:br>
            <a:r>
              <a:rPr b="1" lang="en" sz="1200">
                <a:solidFill>
                  <a:srgbClr val="000000"/>
                </a:solidFill>
                <a:latin typeface="Nunito"/>
                <a:ea typeface="Nunito"/>
                <a:cs typeface="Nunito"/>
                <a:sym typeface="Nunito"/>
              </a:rPr>
              <a:t>Input:</a:t>
            </a:r>
            <a:r>
              <a:rPr lang="en" sz="1200">
                <a:solidFill>
                  <a:srgbClr val="000000"/>
                </a:solidFill>
                <a:latin typeface="Nunito"/>
                <a:ea typeface="Nunito"/>
                <a:cs typeface="Nunito"/>
                <a:sym typeface="Nunito"/>
              </a:rPr>
              <a:t> valid username/password and invalid username/password combinations.</a:t>
            </a:r>
            <a:br>
              <a:rPr lang="en" sz="1200">
                <a:solidFill>
                  <a:srgbClr val="000000"/>
                </a:solidFill>
                <a:latin typeface="Nunito"/>
                <a:ea typeface="Nunito"/>
                <a:cs typeface="Nunito"/>
                <a:sym typeface="Nunito"/>
              </a:rPr>
            </a:br>
            <a:r>
              <a:rPr b="1" lang="en" sz="1200">
                <a:solidFill>
                  <a:srgbClr val="000000"/>
                </a:solidFill>
                <a:latin typeface="Nunito"/>
                <a:ea typeface="Nunito"/>
                <a:cs typeface="Nunito"/>
                <a:sym typeface="Nunito"/>
              </a:rPr>
              <a:t>Steps:</a:t>
            </a:r>
            <a:endParaRPr b="1"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Open login page.</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Enter valid credentials.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Click sign in.</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Arial"/>
              <a:buAutoNum type="arabicPeriod"/>
            </a:pPr>
            <a:r>
              <a:rPr lang="en" sz="1200">
                <a:solidFill>
                  <a:srgbClr val="000000"/>
                </a:solidFill>
                <a:latin typeface="Nunito"/>
                <a:ea typeface="Nunito"/>
                <a:cs typeface="Nunito"/>
                <a:sym typeface="Nunito"/>
              </a:rPr>
              <a:t>Repeat with invalid credentials.</a:t>
            </a:r>
            <a:br>
              <a:rPr lang="en" sz="1200">
                <a:solidFill>
                  <a:srgbClr val="000000"/>
                </a:solidFill>
                <a:latin typeface="Nunito"/>
                <a:ea typeface="Nunito"/>
                <a:cs typeface="Nunito"/>
                <a:sym typeface="Nunito"/>
              </a:rPr>
            </a:br>
            <a:r>
              <a:rPr b="1" lang="en" sz="1200">
                <a:solidFill>
                  <a:srgbClr val="000000"/>
                </a:solidFill>
                <a:latin typeface="Nunito"/>
                <a:ea typeface="Nunito"/>
                <a:cs typeface="Nunito"/>
                <a:sym typeface="Nunito"/>
              </a:rPr>
              <a:t>Expected result:</a:t>
            </a:r>
            <a:endParaRPr b="1"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valid user enters dashboard successfully</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invalid user gets error message and no access</a:t>
            </a:r>
            <a:endParaRPr sz="1200">
              <a:solidFill>
                <a:srgbClr val="000000"/>
              </a:solidFill>
              <a:latin typeface="Nunito"/>
              <a:ea typeface="Nunito"/>
              <a:cs typeface="Nunito"/>
              <a:sym typeface="Nunito"/>
            </a:endParaRPr>
          </a:p>
          <a:p>
            <a:pPr indent="0" lvl="0" marL="0" rtl="0" algn="l">
              <a:spcBef>
                <a:spcPts val="0"/>
              </a:spcBef>
              <a:spcAft>
                <a:spcPts val="1200"/>
              </a:spcAft>
              <a:buNone/>
            </a:pPr>
            <a:r>
              <a:t/>
            </a:r>
            <a:endParaRPr/>
          </a:p>
        </p:txBody>
      </p:sp>
      <p:sp>
        <p:nvSpPr>
          <p:cNvPr id="166" name="Google Shape;166;p19"/>
          <p:cNvSpPr txBox="1"/>
          <p:nvPr/>
        </p:nvSpPr>
        <p:spPr>
          <a:xfrm>
            <a:off x="4942575" y="1419325"/>
            <a:ext cx="3382200" cy="319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Nunito"/>
                <a:ea typeface="Nunito"/>
                <a:cs typeface="Nunito"/>
                <a:sym typeface="Nunito"/>
              </a:rPr>
              <a:t>Test Case 2: Sales transaction processing</a:t>
            </a:r>
            <a:endParaRPr b="1" sz="1200">
              <a:latin typeface="Nunito"/>
              <a:ea typeface="Nunito"/>
              <a:cs typeface="Nunito"/>
              <a:sym typeface="Nunito"/>
            </a:endParaRPr>
          </a:p>
          <a:p>
            <a:pPr indent="0" lvl="0" marL="0" rtl="0" algn="l">
              <a:spcBef>
                <a:spcPts val="0"/>
              </a:spcBef>
              <a:spcAft>
                <a:spcPts val="0"/>
              </a:spcAft>
              <a:buNone/>
            </a:pPr>
            <a:r>
              <a:rPr b="1" lang="en" sz="1200">
                <a:latin typeface="Nunito"/>
                <a:ea typeface="Nunito"/>
                <a:cs typeface="Nunito"/>
                <a:sym typeface="Nunito"/>
              </a:rPr>
              <a:t>Test case ID:</a:t>
            </a:r>
            <a:r>
              <a:rPr lang="en" sz="1200">
                <a:latin typeface="Nunito"/>
                <a:ea typeface="Nunito"/>
                <a:cs typeface="Nunito"/>
                <a:sym typeface="Nunito"/>
              </a:rPr>
              <a:t> TC-02</a:t>
            </a:r>
            <a:br>
              <a:rPr lang="en" sz="1200">
                <a:latin typeface="Nunito"/>
                <a:ea typeface="Nunito"/>
                <a:cs typeface="Nunito"/>
                <a:sym typeface="Nunito"/>
              </a:rPr>
            </a:br>
            <a:r>
              <a:rPr b="1" lang="en" sz="1200">
                <a:latin typeface="Nunito"/>
                <a:ea typeface="Nunito"/>
                <a:cs typeface="Nunito"/>
                <a:sym typeface="Nunito"/>
              </a:rPr>
              <a:t>Objective:</a:t>
            </a:r>
            <a:r>
              <a:rPr lang="en" sz="1200">
                <a:latin typeface="Nunito"/>
                <a:ea typeface="Nunito"/>
                <a:cs typeface="Nunito"/>
                <a:sym typeface="Nunito"/>
              </a:rPr>
              <a:t> verify that a completed sale updates sales totals and inventory correctly.</a:t>
            </a:r>
            <a:br>
              <a:rPr lang="en" sz="1200">
                <a:latin typeface="Nunito"/>
                <a:ea typeface="Nunito"/>
                <a:cs typeface="Nunito"/>
                <a:sym typeface="Nunito"/>
              </a:rPr>
            </a:br>
            <a:r>
              <a:rPr b="1" lang="en" sz="1200">
                <a:latin typeface="Nunito"/>
                <a:ea typeface="Nunito"/>
                <a:cs typeface="Nunito"/>
                <a:sym typeface="Nunito"/>
              </a:rPr>
              <a:t>Input:</a:t>
            </a:r>
            <a:r>
              <a:rPr lang="en" sz="1200">
                <a:latin typeface="Nunito"/>
                <a:ea typeface="Nunito"/>
                <a:cs typeface="Nunito"/>
                <a:sym typeface="Nunito"/>
              </a:rPr>
              <a:t> one product with known inventory count and sale quantity.</a:t>
            </a:r>
            <a:br>
              <a:rPr lang="en" sz="1200">
                <a:latin typeface="Nunito"/>
                <a:ea typeface="Nunito"/>
                <a:cs typeface="Nunito"/>
                <a:sym typeface="Nunito"/>
              </a:rPr>
            </a:br>
            <a:r>
              <a:rPr b="1" lang="en" sz="1200">
                <a:latin typeface="Nunito"/>
                <a:ea typeface="Nunito"/>
                <a:cs typeface="Nunito"/>
                <a:sym typeface="Nunito"/>
              </a:rPr>
              <a:t>Steps:</a:t>
            </a:r>
            <a:endParaRPr b="1" sz="1200">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lang="en" sz="1200">
                <a:latin typeface="Nunito"/>
                <a:ea typeface="Nunito"/>
                <a:cs typeface="Nunito"/>
                <a:sym typeface="Nunito"/>
              </a:rPr>
              <a:t>Log in as cashier.</a:t>
            </a:r>
            <a:endParaRPr sz="1200">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lang="en" sz="1200">
                <a:latin typeface="Nunito"/>
                <a:ea typeface="Nunito"/>
                <a:cs typeface="Nunito"/>
                <a:sym typeface="Nunito"/>
              </a:rPr>
              <a:t>Scan/select product.</a:t>
            </a:r>
            <a:endParaRPr sz="1200">
              <a:latin typeface="Nunito"/>
              <a:ea typeface="Nunito"/>
              <a:cs typeface="Nunito"/>
              <a:sym typeface="Nunito"/>
            </a:endParaRPr>
          </a:p>
          <a:p>
            <a:pPr indent="-304800" lvl="0" marL="457200" rtl="0" algn="l">
              <a:spcBef>
                <a:spcPts val="0"/>
              </a:spcBef>
              <a:spcAft>
                <a:spcPts val="0"/>
              </a:spcAft>
              <a:buClr>
                <a:srgbClr val="000000"/>
              </a:buClr>
              <a:buSzPts val="1200"/>
              <a:buFont typeface="Nunito"/>
              <a:buAutoNum type="arabicPeriod"/>
            </a:pPr>
            <a:r>
              <a:rPr lang="en" sz="1200">
                <a:latin typeface="Nunito"/>
                <a:ea typeface="Nunito"/>
                <a:cs typeface="Nunito"/>
                <a:sym typeface="Nunito"/>
              </a:rPr>
              <a:t>Complete sale.</a:t>
            </a:r>
            <a:endParaRPr sz="1200">
              <a:latin typeface="Nunito"/>
              <a:ea typeface="Nunito"/>
              <a:cs typeface="Nunito"/>
              <a:sym typeface="Nunito"/>
            </a:endParaRPr>
          </a:p>
          <a:p>
            <a:pPr indent="-304800" lvl="0" marL="457200" rtl="0" algn="l">
              <a:spcBef>
                <a:spcPts val="0"/>
              </a:spcBef>
              <a:spcAft>
                <a:spcPts val="0"/>
              </a:spcAft>
              <a:buClr>
                <a:srgbClr val="000000"/>
              </a:buClr>
              <a:buSzPts val="1200"/>
              <a:buFont typeface="Arial"/>
              <a:buAutoNum type="arabicPeriod"/>
            </a:pPr>
            <a:r>
              <a:rPr lang="en" sz="1200">
                <a:latin typeface="Nunito"/>
                <a:ea typeface="Nunito"/>
                <a:cs typeface="Nunito"/>
                <a:sym typeface="Nunito"/>
              </a:rPr>
              <a:t>Check receipt, sales log, and updated inventory count.</a:t>
            </a:r>
            <a:br>
              <a:rPr lang="en" sz="1200">
                <a:latin typeface="Nunito"/>
                <a:ea typeface="Nunito"/>
                <a:cs typeface="Nunito"/>
                <a:sym typeface="Nunito"/>
              </a:rPr>
            </a:br>
            <a:r>
              <a:rPr b="1" lang="en" sz="1200">
                <a:latin typeface="Nunito"/>
                <a:ea typeface="Nunito"/>
                <a:cs typeface="Nunito"/>
                <a:sym typeface="Nunito"/>
              </a:rPr>
              <a:t>Expected result:</a:t>
            </a:r>
            <a:endParaRPr b="1" sz="1200">
              <a:latin typeface="Nunito"/>
              <a:ea typeface="Nunito"/>
              <a:cs typeface="Nunito"/>
              <a:sym typeface="Nunito"/>
            </a:endParaRPr>
          </a:p>
          <a:p>
            <a:pPr indent="-304800" lvl="0" marL="457200" rtl="0" algn="l">
              <a:spcBef>
                <a:spcPts val="0"/>
              </a:spcBef>
              <a:spcAft>
                <a:spcPts val="0"/>
              </a:spcAft>
              <a:buClr>
                <a:srgbClr val="000000"/>
              </a:buClr>
              <a:buSzPts val="1200"/>
              <a:buFont typeface="Nunito"/>
              <a:buChar char="●"/>
            </a:pPr>
            <a:r>
              <a:rPr lang="en" sz="1200">
                <a:latin typeface="Nunito"/>
                <a:ea typeface="Nunito"/>
                <a:cs typeface="Nunito"/>
                <a:sym typeface="Nunito"/>
              </a:rPr>
              <a:t>sale is saved successfully</a:t>
            </a:r>
            <a:endParaRPr sz="1200">
              <a:latin typeface="Nunito"/>
              <a:ea typeface="Nunito"/>
              <a:cs typeface="Nunito"/>
              <a:sym typeface="Nunito"/>
            </a:endParaRPr>
          </a:p>
          <a:p>
            <a:pPr indent="-304800" lvl="0" marL="457200" rtl="0" algn="l">
              <a:spcBef>
                <a:spcPts val="0"/>
              </a:spcBef>
              <a:spcAft>
                <a:spcPts val="0"/>
              </a:spcAft>
              <a:buClr>
                <a:srgbClr val="000000"/>
              </a:buClr>
              <a:buSzPts val="1200"/>
              <a:buFont typeface="Nunito"/>
              <a:buChar char="●"/>
            </a:pPr>
            <a:r>
              <a:rPr lang="en" sz="1200">
                <a:latin typeface="Nunito"/>
                <a:ea typeface="Nunito"/>
                <a:cs typeface="Nunito"/>
                <a:sym typeface="Nunito"/>
              </a:rPr>
              <a:t>receipt is generated</a:t>
            </a:r>
            <a:endParaRPr sz="1200">
              <a:latin typeface="Nunito"/>
              <a:ea typeface="Nunito"/>
              <a:cs typeface="Nunito"/>
              <a:sym typeface="Nunito"/>
            </a:endParaRPr>
          </a:p>
          <a:p>
            <a:pPr indent="-304800" lvl="0" marL="457200" rtl="0" algn="l">
              <a:spcBef>
                <a:spcPts val="0"/>
              </a:spcBef>
              <a:spcAft>
                <a:spcPts val="0"/>
              </a:spcAft>
              <a:buClr>
                <a:srgbClr val="000000"/>
              </a:buClr>
              <a:buSzPts val="1200"/>
              <a:buFont typeface="Nunito"/>
              <a:buChar char="●"/>
            </a:pPr>
            <a:r>
              <a:rPr lang="en" sz="1200">
                <a:latin typeface="Nunito"/>
                <a:ea typeface="Nunito"/>
                <a:cs typeface="Nunito"/>
                <a:sym typeface="Nunito"/>
              </a:rPr>
              <a:t>inventory count decreases correctly</a:t>
            </a:r>
            <a:endParaRPr sz="1200">
              <a:latin typeface="Nunito"/>
              <a:ea typeface="Nunito"/>
              <a:cs typeface="Nunito"/>
              <a:sym typeface="Nunito"/>
            </a:endParaRPr>
          </a:p>
          <a:p>
            <a:pPr indent="-304800" lvl="0" marL="457200" rtl="0" algn="l">
              <a:spcBef>
                <a:spcPts val="0"/>
              </a:spcBef>
              <a:spcAft>
                <a:spcPts val="0"/>
              </a:spcAft>
              <a:buClr>
                <a:srgbClr val="000000"/>
              </a:buClr>
              <a:buSzPts val="1200"/>
              <a:buFont typeface="Nunito"/>
              <a:buChar char="●"/>
            </a:pPr>
            <a:r>
              <a:rPr lang="en" sz="1200">
                <a:latin typeface="Nunito"/>
                <a:ea typeface="Nunito"/>
                <a:cs typeface="Nunito"/>
                <a:sym typeface="Nunito"/>
              </a:rPr>
              <a:t>transaction appears in reporting records</a:t>
            </a:r>
            <a:endParaRPr sz="1200">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Debugging and Handling Errors</a:t>
            </a:r>
            <a:endParaRPr/>
          </a:p>
        </p:txBody>
      </p:sp>
      <p:sp>
        <p:nvSpPr>
          <p:cNvPr id="172" name="Google Shape;172;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04800" lvl="0" marL="457200" rtl="0" algn="l">
              <a:lnSpc>
                <a:spcPct val="100000"/>
              </a:lnSpc>
              <a:spcBef>
                <a:spcPts val="120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Strategies include:</a:t>
            </a:r>
            <a:endParaRPr sz="1200">
              <a:solidFill>
                <a:srgbClr val="000000"/>
              </a:solidFill>
              <a:latin typeface="Nunito"/>
              <a:ea typeface="Nunito"/>
              <a:cs typeface="Nunito"/>
              <a:sym typeface="Nunito"/>
            </a:endParaRPr>
          </a:p>
          <a:p>
            <a:pPr indent="-304800" lvl="1" marL="9144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 maintaining detailed error logs for login</a:t>
            </a:r>
            <a:endParaRPr sz="1200">
              <a:solidFill>
                <a:srgbClr val="000000"/>
              </a:solidFill>
              <a:latin typeface="Nunito"/>
              <a:ea typeface="Nunito"/>
              <a:cs typeface="Nunito"/>
              <a:sym typeface="Nunito"/>
            </a:endParaRPr>
          </a:p>
          <a:p>
            <a:pPr indent="-304800" lvl="1" marL="9144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transactions, and inventory updates</a:t>
            </a:r>
            <a:endParaRPr sz="1200">
              <a:solidFill>
                <a:srgbClr val="000000"/>
              </a:solidFill>
              <a:latin typeface="Nunito"/>
              <a:ea typeface="Nunito"/>
              <a:cs typeface="Nunito"/>
              <a:sym typeface="Nunito"/>
            </a:endParaRPr>
          </a:p>
          <a:p>
            <a:pPr indent="-304800" lvl="1" marL="9144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categorizing issues by severity</a:t>
            </a:r>
            <a:endParaRPr sz="1200">
              <a:solidFill>
                <a:srgbClr val="000000"/>
              </a:solidFill>
              <a:latin typeface="Nunito"/>
              <a:ea typeface="Nunito"/>
              <a:cs typeface="Nunito"/>
              <a:sym typeface="Nunito"/>
            </a:endParaRPr>
          </a:p>
          <a:p>
            <a:pPr indent="-304800" lvl="1" marL="9144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fixing critical issues first</a:t>
            </a:r>
            <a:endParaRPr sz="1200">
              <a:solidFill>
                <a:srgbClr val="000000"/>
              </a:solidFill>
              <a:latin typeface="Nunito"/>
              <a:ea typeface="Nunito"/>
              <a:cs typeface="Nunito"/>
              <a:sym typeface="Nunito"/>
            </a:endParaRPr>
          </a:p>
          <a:p>
            <a:pPr indent="-304800" lvl="1" marL="9144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retesting after every fix</a:t>
            </a:r>
            <a:endParaRPr sz="1200">
              <a:solidFill>
                <a:srgbClr val="000000"/>
              </a:solidFill>
              <a:latin typeface="Nunito"/>
              <a:ea typeface="Nunito"/>
              <a:cs typeface="Nunito"/>
              <a:sym typeface="Nunito"/>
            </a:endParaRPr>
          </a:p>
          <a:p>
            <a:pPr indent="-304800" lvl="1" marL="9144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using friendly user messages instead of system crash messages</a:t>
            </a:r>
            <a:endParaRPr sz="1200">
              <a:solidFill>
                <a:srgbClr val="000000"/>
              </a:solidFill>
              <a:latin typeface="Nunito"/>
              <a:ea typeface="Nunito"/>
              <a:cs typeface="Nunito"/>
              <a:sym typeface="Nunito"/>
            </a:endParaRPr>
          </a:p>
          <a:p>
            <a:pPr indent="-304800" lvl="1" marL="9144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keeping rollback procedures for failed module releases</a:t>
            </a:r>
            <a:endParaRPr sz="1200">
              <a:solidFill>
                <a:srgbClr val="000000"/>
              </a:solidFill>
              <a:latin typeface="Nunito"/>
              <a:ea typeface="Nunito"/>
              <a:cs typeface="Nunito"/>
              <a:sym typeface="Nunito"/>
            </a:endParaRPr>
          </a:p>
          <a:p>
            <a:pPr indent="-304800" lvl="1" marL="9144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tracking recurring errors to identify root causes.</a:t>
            </a:r>
            <a:endParaRPr>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Quality Issues</a:t>
            </a:r>
            <a:endParaRPr/>
          </a:p>
        </p:txBody>
      </p:sp>
      <p:sp>
        <p:nvSpPr>
          <p:cNvPr id="178" name="Google Shape;178;p21"/>
          <p:cNvSpPr txBox="1"/>
          <p:nvPr>
            <p:ph idx="1" type="body"/>
          </p:nvPr>
        </p:nvSpPr>
        <p:spPr>
          <a:xfrm>
            <a:off x="819150" y="1668050"/>
            <a:ext cx="7505700" cy="2770800"/>
          </a:xfrm>
          <a:prstGeom prst="rect">
            <a:avLst/>
          </a:prstGeom>
        </p:spPr>
        <p:txBody>
          <a:bodyPr anchorCtr="0" anchor="t" bIns="91425" lIns="91425" spcFirstLastPara="1" rIns="91425" wrap="square" tIns="91425">
            <a:noAutofit/>
          </a:bodyPr>
          <a:lstStyle/>
          <a:p>
            <a:pPr indent="-305435" lvl="0" marL="457200" rtl="0" algn="l">
              <a:lnSpc>
                <a:spcPct val="80000"/>
              </a:lnSpc>
              <a:spcBef>
                <a:spcPts val="0"/>
              </a:spcBef>
              <a:spcAft>
                <a:spcPts val="0"/>
              </a:spcAft>
              <a:buClr>
                <a:srgbClr val="000000"/>
              </a:buClr>
              <a:buSzPts val="1210"/>
              <a:buFont typeface="Nunito"/>
              <a:buChar char="●"/>
            </a:pPr>
            <a:r>
              <a:rPr b="1" lang="en" sz="1210">
                <a:solidFill>
                  <a:srgbClr val="000000"/>
                </a:solidFill>
                <a:latin typeface="Nunito"/>
                <a:ea typeface="Nunito"/>
                <a:cs typeface="Nunito"/>
                <a:sym typeface="Nunito"/>
              </a:rPr>
              <a:t>Possible data quality issues in retail</a:t>
            </a:r>
            <a:endParaRPr b="1" sz="1210">
              <a:solidFill>
                <a:srgbClr val="000000"/>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000000"/>
                </a:solidFill>
                <a:latin typeface="Nunito"/>
                <a:ea typeface="Nunito"/>
                <a:cs typeface="Nunito"/>
                <a:sym typeface="Nunito"/>
              </a:rPr>
              <a:t>duplicate customer records</a:t>
            </a:r>
            <a:endParaRPr sz="1210">
              <a:solidFill>
                <a:srgbClr val="000000"/>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000000"/>
                </a:solidFill>
                <a:latin typeface="Nunito"/>
                <a:ea typeface="Nunito"/>
                <a:cs typeface="Nunito"/>
                <a:sym typeface="Nunito"/>
              </a:rPr>
              <a:t>outdated pricing</a:t>
            </a:r>
            <a:endParaRPr sz="1210">
              <a:solidFill>
                <a:srgbClr val="000000"/>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000000"/>
                </a:solidFill>
                <a:latin typeface="Nunito"/>
                <a:ea typeface="Nunito"/>
                <a:cs typeface="Nunito"/>
                <a:sym typeface="Nunito"/>
              </a:rPr>
              <a:t>missing supplier information</a:t>
            </a:r>
            <a:endParaRPr sz="1210">
              <a:solidFill>
                <a:srgbClr val="000000"/>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000000"/>
                </a:solidFill>
                <a:latin typeface="Nunito"/>
                <a:ea typeface="Nunito"/>
                <a:cs typeface="Nunito"/>
                <a:sym typeface="Nunito"/>
              </a:rPr>
              <a:t>inconsistent product naming</a:t>
            </a:r>
            <a:endParaRPr sz="1210">
              <a:solidFill>
                <a:srgbClr val="000000"/>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000000"/>
                </a:solidFill>
                <a:latin typeface="Nunito"/>
                <a:ea typeface="Nunito"/>
                <a:cs typeface="Nunito"/>
                <a:sym typeface="Nunito"/>
              </a:rPr>
              <a:t>inventory counts that do not match reality</a:t>
            </a:r>
            <a:endParaRPr sz="1210">
              <a:solidFill>
                <a:srgbClr val="000000"/>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000000"/>
                </a:solidFill>
                <a:latin typeface="Nunito"/>
                <a:ea typeface="Nunito"/>
                <a:cs typeface="Nunito"/>
                <a:sym typeface="Nunito"/>
              </a:rPr>
              <a:t>incomplete sales history</a:t>
            </a:r>
            <a:endParaRPr sz="1210">
              <a:solidFill>
                <a:srgbClr val="000000"/>
              </a:solidFill>
              <a:latin typeface="Nunito"/>
              <a:ea typeface="Nunito"/>
              <a:cs typeface="Nunito"/>
              <a:sym typeface="Nunito"/>
            </a:endParaRPr>
          </a:p>
          <a:p>
            <a:pPr indent="0" lvl="0" marL="914400" rtl="0" algn="l">
              <a:lnSpc>
                <a:spcPct val="80000"/>
              </a:lnSpc>
              <a:spcBef>
                <a:spcPts val="0"/>
              </a:spcBef>
              <a:spcAft>
                <a:spcPts val="0"/>
              </a:spcAft>
              <a:buSzPts val="1018"/>
              <a:buNone/>
            </a:pPr>
            <a:r>
              <a:t/>
            </a:r>
            <a:endParaRPr sz="1210">
              <a:solidFill>
                <a:srgbClr val="000000"/>
              </a:solidFill>
              <a:latin typeface="Nunito"/>
              <a:ea typeface="Nunito"/>
              <a:cs typeface="Nunito"/>
              <a:sym typeface="Nunito"/>
            </a:endParaRPr>
          </a:p>
          <a:p>
            <a:pPr indent="-305435" lvl="0" marL="457200" rtl="0" algn="l">
              <a:lnSpc>
                <a:spcPct val="80000"/>
              </a:lnSpc>
              <a:spcBef>
                <a:spcPts val="0"/>
              </a:spcBef>
              <a:spcAft>
                <a:spcPts val="0"/>
              </a:spcAft>
              <a:buClr>
                <a:srgbClr val="000000"/>
              </a:buClr>
              <a:buSzPts val="1210"/>
              <a:buFont typeface="Nunito"/>
              <a:buChar char="●"/>
            </a:pPr>
            <a:r>
              <a:rPr b="1" lang="en" sz="1210">
                <a:solidFill>
                  <a:srgbClr val="000000"/>
                </a:solidFill>
                <a:latin typeface="Nunito"/>
                <a:ea typeface="Nunito"/>
                <a:cs typeface="Nunito"/>
                <a:sym typeface="Nunito"/>
              </a:rPr>
              <a:t>Data cleansing strategies</a:t>
            </a:r>
            <a:endParaRPr b="1" sz="1210">
              <a:solidFill>
                <a:srgbClr val="000000"/>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434343"/>
                </a:solidFill>
                <a:latin typeface="Nunito"/>
                <a:ea typeface="Nunito"/>
                <a:cs typeface="Nunito"/>
                <a:sym typeface="Nunito"/>
              </a:rPr>
              <a:t>profile source data before migration</a:t>
            </a:r>
            <a:endParaRPr sz="1210">
              <a:solidFill>
                <a:srgbClr val="434343"/>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434343"/>
                </a:solidFill>
                <a:latin typeface="Nunito"/>
                <a:ea typeface="Nunito"/>
                <a:cs typeface="Nunito"/>
                <a:sym typeface="Nunito"/>
              </a:rPr>
              <a:t>remove duplicates</a:t>
            </a:r>
            <a:endParaRPr sz="1210">
              <a:solidFill>
                <a:srgbClr val="434343"/>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434343"/>
                </a:solidFill>
                <a:latin typeface="Nunito"/>
                <a:ea typeface="Nunito"/>
                <a:cs typeface="Nunito"/>
                <a:sym typeface="Nunito"/>
              </a:rPr>
              <a:t>correct obvious errors</a:t>
            </a:r>
            <a:endParaRPr sz="1210">
              <a:solidFill>
                <a:srgbClr val="434343"/>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434343"/>
                </a:solidFill>
                <a:latin typeface="Nunito"/>
                <a:ea typeface="Nunito"/>
                <a:cs typeface="Nunito"/>
                <a:sym typeface="Nunito"/>
              </a:rPr>
              <a:t>standardize formats and codes</a:t>
            </a:r>
            <a:endParaRPr sz="1210">
              <a:solidFill>
                <a:srgbClr val="434343"/>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434343"/>
                </a:solidFill>
                <a:latin typeface="Nunito"/>
                <a:ea typeface="Nunito"/>
                <a:cs typeface="Nunito"/>
                <a:sym typeface="Nunito"/>
              </a:rPr>
              <a:t>map old fields to new fields carefully</a:t>
            </a:r>
            <a:endParaRPr sz="1210">
              <a:solidFill>
                <a:srgbClr val="434343"/>
              </a:solidFill>
              <a:latin typeface="Nunito"/>
              <a:ea typeface="Nunito"/>
              <a:cs typeface="Nunito"/>
              <a:sym typeface="Nunito"/>
            </a:endParaRPr>
          </a:p>
          <a:p>
            <a:pPr indent="-305435" lvl="1" marL="914400" rtl="0" algn="l">
              <a:lnSpc>
                <a:spcPct val="80000"/>
              </a:lnSpc>
              <a:spcBef>
                <a:spcPts val="0"/>
              </a:spcBef>
              <a:spcAft>
                <a:spcPts val="0"/>
              </a:spcAft>
              <a:buClr>
                <a:srgbClr val="000000"/>
              </a:buClr>
              <a:buSzPts val="1210"/>
              <a:buFont typeface="Nunito"/>
              <a:buChar char="○"/>
            </a:pPr>
            <a:r>
              <a:rPr lang="en" sz="1210">
                <a:solidFill>
                  <a:srgbClr val="434343"/>
                </a:solidFill>
                <a:latin typeface="Nunito"/>
                <a:ea typeface="Nunito"/>
                <a:cs typeface="Nunito"/>
                <a:sym typeface="Nunito"/>
              </a:rPr>
              <a:t>validate totals and sample records after migration</a:t>
            </a:r>
            <a:br>
              <a:rPr lang="en" sz="1210">
                <a:solidFill>
                  <a:srgbClr val="434343"/>
                </a:solidFill>
                <a:latin typeface="Nunito"/>
                <a:ea typeface="Nunito"/>
                <a:cs typeface="Nunito"/>
                <a:sym typeface="Nunito"/>
              </a:rPr>
            </a:br>
            <a:endParaRPr sz="1117">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Conversion Method</a:t>
            </a:r>
            <a:endParaRPr/>
          </a:p>
        </p:txBody>
      </p:sp>
      <p:sp>
        <p:nvSpPr>
          <p:cNvPr id="184" name="Google Shape;184;p22"/>
          <p:cNvSpPr txBox="1"/>
          <p:nvPr>
            <p:ph idx="1" type="body"/>
          </p:nvPr>
        </p:nvSpPr>
        <p:spPr>
          <a:xfrm>
            <a:off x="819150" y="1990725"/>
            <a:ext cx="3155100" cy="2448000"/>
          </a:xfrm>
          <a:prstGeom prst="rect">
            <a:avLst/>
          </a:prstGeom>
        </p:spPr>
        <p:txBody>
          <a:bodyPr anchorCtr="0" anchor="t" bIns="91425" lIns="91425" spcFirstLastPara="1" rIns="91425" wrap="square" tIns="91425">
            <a:normAutofit/>
          </a:bodyPr>
          <a:lstStyle/>
          <a:p>
            <a:pPr indent="-304800" lvl="0" marL="457200" rtl="0" algn="l">
              <a:lnSpc>
                <a:spcPct val="100000"/>
              </a:lnSpc>
              <a:spcBef>
                <a:spcPts val="120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I would use an automated and phased conversion method</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This makes sense for retail because there can be a high volume of products, customers, and sales records. </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Doing this manually would be too slow and could result in errors. </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A phased conversion also fits the phased installation strategy, which reduces overall business risk.</a:t>
            </a:r>
            <a:endParaRPr>
              <a:latin typeface="Nunito"/>
              <a:ea typeface="Nunito"/>
              <a:cs typeface="Nunito"/>
              <a:sym typeface="Nunito"/>
            </a:endParaRPr>
          </a:p>
        </p:txBody>
      </p:sp>
      <p:sp>
        <p:nvSpPr>
          <p:cNvPr id="185" name="Google Shape;185;p22"/>
          <p:cNvSpPr txBox="1"/>
          <p:nvPr>
            <p:ph type="title"/>
          </p:nvPr>
        </p:nvSpPr>
        <p:spPr>
          <a:xfrm>
            <a:off x="4310350" y="747900"/>
            <a:ext cx="43899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and Validation Steps</a:t>
            </a:r>
            <a:endParaRPr/>
          </a:p>
        </p:txBody>
      </p:sp>
      <p:sp>
        <p:nvSpPr>
          <p:cNvPr id="186" name="Google Shape;186;p22"/>
          <p:cNvSpPr txBox="1"/>
          <p:nvPr>
            <p:ph idx="1" type="body"/>
          </p:nvPr>
        </p:nvSpPr>
        <p:spPr>
          <a:xfrm>
            <a:off x="4454000" y="2041150"/>
            <a:ext cx="3870900" cy="2397600"/>
          </a:xfrm>
          <a:prstGeom prst="rect">
            <a:avLst/>
          </a:prstGeom>
        </p:spPr>
        <p:txBody>
          <a:bodyPr anchorCtr="0" anchor="t" bIns="91425" lIns="91425" spcFirstLastPara="1" rIns="91425" wrap="square" tIns="91425">
            <a:normAutofit/>
          </a:bodyPr>
          <a:lstStyle/>
          <a:p>
            <a:pPr indent="-304800" lvl="0" marL="457200" rtl="0" algn="l">
              <a:lnSpc>
                <a:spcPct val="100000"/>
              </a:lnSpc>
              <a:spcBef>
                <a:spcPts val="120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compare old and new record counts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validate sample customer, product, and sales records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verify inventory totals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check pricing and tax fields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run transaction tests on migrated data</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confirm reports produce correct output</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get business user confirmation on sample results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AutoNum type="arabicPeriod"/>
            </a:pPr>
            <a:r>
              <a:rPr lang="en" sz="1200">
                <a:solidFill>
                  <a:srgbClr val="000000"/>
                </a:solidFill>
                <a:latin typeface="Nunito"/>
                <a:ea typeface="Nunito"/>
                <a:cs typeface="Nunito"/>
                <a:sym typeface="Nunito"/>
              </a:rPr>
              <a:t>document issues and rerun corrections if needed</a:t>
            </a:r>
            <a:endParaRPr sz="1200">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FFFFFF"/>
                </a:highlight>
              </a:rPr>
              <a:t>key success factors and post-implementation review criteria</a:t>
            </a:r>
            <a:endParaRPr/>
          </a:p>
        </p:txBody>
      </p:sp>
      <p:sp>
        <p:nvSpPr>
          <p:cNvPr id="192" name="Google Shape;192;p23"/>
          <p:cNvSpPr txBox="1"/>
          <p:nvPr>
            <p:ph idx="1" type="body"/>
          </p:nvPr>
        </p:nvSpPr>
        <p:spPr>
          <a:xfrm>
            <a:off x="819150" y="1990725"/>
            <a:ext cx="7505700" cy="26355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b="1" lang="en" sz="1502">
                <a:solidFill>
                  <a:srgbClr val="000000"/>
                </a:solidFill>
                <a:latin typeface="Nunito"/>
                <a:ea typeface="Nunito"/>
                <a:cs typeface="Nunito"/>
                <a:sym typeface="Nunito"/>
              </a:rPr>
              <a:t>Key success factors</a:t>
            </a:r>
            <a:endParaRPr b="1"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project stays within cost, scope, and time targets</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data migration is accurate and complete</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users are trained and ready</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critical defects are resolved before go-live</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installation causes limited disruption</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documentation is updated and usable</a:t>
            </a:r>
            <a:endParaRPr sz="1502">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t/>
            </a:r>
            <a:endParaRPr sz="1502">
              <a:solidFill>
                <a:srgbClr val="000000"/>
              </a:solidFill>
              <a:latin typeface="Nunito"/>
              <a:ea typeface="Nunito"/>
              <a:cs typeface="Nunito"/>
              <a:sym typeface="Nunito"/>
            </a:endParaRPr>
          </a:p>
          <a:p>
            <a:pPr indent="0" lvl="0" marL="0" rtl="0" algn="l">
              <a:lnSpc>
                <a:spcPct val="100000"/>
              </a:lnSpc>
              <a:spcBef>
                <a:spcPts val="0"/>
              </a:spcBef>
              <a:spcAft>
                <a:spcPts val="0"/>
              </a:spcAft>
              <a:buNone/>
            </a:pPr>
            <a:r>
              <a:rPr b="1" lang="en" sz="1502">
                <a:solidFill>
                  <a:srgbClr val="000000"/>
                </a:solidFill>
                <a:latin typeface="Nunito"/>
                <a:ea typeface="Nunito"/>
                <a:cs typeface="Nunito"/>
                <a:sym typeface="Nunito"/>
              </a:rPr>
              <a:t>Post-implementation review criteria</a:t>
            </a:r>
            <a:endParaRPr b="1"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system uptime after go-live</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accuracy of inventory and transaction data</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user satisfaction and training feedback</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number and severity of post-go-live issues</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speed of order processing/report generation</a:t>
            </a:r>
            <a:endParaRPr sz="1502">
              <a:solidFill>
                <a:srgbClr val="000000"/>
              </a:solidFill>
              <a:latin typeface="Nunito"/>
              <a:ea typeface="Nunito"/>
              <a:cs typeface="Nunito"/>
              <a:sym typeface="Nunito"/>
            </a:endParaRPr>
          </a:p>
          <a:p>
            <a:pPr indent="-302559" lvl="0" marL="457200" rtl="0" algn="l">
              <a:lnSpc>
                <a:spcPct val="100000"/>
              </a:lnSpc>
              <a:spcBef>
                <a:spcPts val="0"/>
              </a:spcBef>
              <a:spcAft>
                <a:spcPts val="0"/>
              </a:spcAft>
              <a:buClr>
                <a:srgbClr val="000000"/>
              </a:buClr>
              <a:buSzPct val="100000"/>
              <a:buFont typeface="Nunito"/>
              <a:buChar char="●"/>
            </a:pPr>
            <a:r>
              <a:rPr lang="en" sz="1502">
                <a:solidFill>
                  <a:srgbClr val="000000"/>
                </a:solidFill>
                <a:latin typeface="Nunito"/>
                <a:ea typeface="Nunito"/>
                <a:cs typeface="Nunito"/>
                <a:sym typeface="Nunito"/>
              </a:rPr>
              <a:t>whether the system meets the original business objective</a:t>
            </a:r>
            <a:endParaRPr sz="1502">
              <a:solidFill>
                <a:srgbClr val="000000"/>
              </a:solidFill>
              <a:latin typeface="Nunito"/>
              <a:ea typeface="Nunito"/>
              <a:cs typeface="Nunito"/>
              <a:sym typeface="Nunito"/>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36666"/>
              <a:buFont typeface="Arial"/>
              <a:buNone/>
            </a:pPr>
            <a:r>
              <a:rPr lang="en"/>
              <a:t>lessons learned</a:t>
            </a:r>
            <a:endParaRPr/>
          </a:p>
          <a:p>
            <a:pPr indent="0" lvl="0" marL="0" rtl="0" algn="l">
              <a:spcBef>
                <a:spcPts val="1200"/>
              </a:spcBef>
              <a:spcAft>
                <a:spcPts val="0"/>
              </a:spcAft>
              <a:buNone/>
            </a:pPr>
            <a:r>
              <a:t/>
            </a:r>
            <a:endParaRPr/>
          </a:p>
        </p:txBody>
      </p:sp>
      <p:sp>
        <p:nvSpPr>
          <p:cNvPr id="198" name="Google Shape;198;p24"/>
          <p:cNvSpPr txBox="1"/>
          <p:nvPr>
            <p:ph idx="1" type="body"/>
          </p:nvPr>
        </p:nvSpPr>
        <p:spPr>
          <a:xfrm>
            <a:off x="819150" y="1614750"/>
            <a:ext cx="7505700" cy="28239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 sz="1200">
                <a:solidFill>
                  <a:srgbClr val="000000"/>
                </a:solidFill>
                <a:latin typeface="Nunito"/>
                <a:ea typeface="Nunito"/>
                <a:cs typeface="Nunito"/>
                <a:sym typeface="Nunito"/>
              </a:rPr>
              <a:t>A big lesson from this project is that implementation is not just about installing software. It also depends on project management, testing, data quality, user readiness, and documentation. For future implementations, continuous improvement should include:</a:t>
            </a:r>
            <a:endParaRPr sz="1200">
              <a:solidFill>
                <a:srgbClr val="000000"/>
              </a:solidFill>
              <a:latin typeface="Nunito"/>
              <a:ea typeface="Nunito"/>
              <a:cs typeface="Nunito"/>
              <a:sym typeface="Nunito"/>
            </a:endParaRPr>
          </a:p>
          <a:p>
            <a:pPr indent="-304800" lvl="0" marL="457200" rtl="0" algn="l">
              <a:lnSpc>
                <a:spcPct val="100000"/>
              </a:lnSpc>
              <a:spcBef>
                <a:spcPts val="120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updating training materials with each release</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revising documentation when features change</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reviewing defect trends</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gathering user feedback after each rollout phase</a:t>
            </a:r>
            <a:endParaRPr sz="1200">
              <a:solidFill>
                <a:srgbClr val="000000"/>
              </a:solidFill>
              <a:latin typeface="Nunito"/>
              <a:ea typeface="Nunito"/>
              <a:cs typeface="Nunito"/>
              <a:sym typeface="Nunito"/>
            </a:endParaRPr>
          </a:p>
          <a:p>
            <a:pPr indent="-304800" lvl="0" marL="457200" rtl="0" algn="l">
              <a:lnSpc>
                <a:spcPct val="100000"/>
              </a:lnSpc>
              <a:spcBef>
                <a:spcPts val="0"/>
              </a:spcBef>
              <a:spcAft>
                <a:spcPts val="0"/>
              </a:spcAft>
              <a:buClr>
                <a:srgbClr val="000000"/>
              </a:buClr>
              <a:buSzPts val="1200"/>
              <a:buFont typeface="Nunito"/>
              <a:buChar char="●"/>
            </a:pPr>
            <a:r>
              <a:rPr lang="en" sz="1200">
                <a:solidFill>
                  <a:srgbClr val="000000"/>
                </a:solidFill>
                <a:latin typeface="Nunito"/>
                <a:ea typeface="Nunito"/>
                <a:cs typeface="Nunito"/>
                <a:sym typeface="Nunito"/>
              </a:rPr>
              <a:t>improving future schedules using lessons from this project</a:t>
            </a:r>
            <a:endParaRPr b="1" sz="2800">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